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4114800" cy="411480"/>
          </a:xfrm>
          <a:prstGeom prst="roundRect">
            <a:avLst/>
          </a:prstGeom>
          <a:solidFill>
            <a:srgbClr val="142D55"/>
          </a:solidFill>
          <a:ln w="19050">
            <a:solidFill>
              <a:srgbClr val="0DC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DCAF0"/>
                </a:solidFill>
              </a:defRPr>
            </a:pPr>
            <a:r>
              <a:t>⚡ PROJET WEB RAN - 1AE (2026)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6217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EcoSmart Lab</a:t>
            </a:r>
          </a:p>
          <a:p>
            <a:pPr>
              <a:spcBef>
                <a:spcPts val="1000"/>
              </a:spcBef>
              <a:defRPr sz="1600">
                <a:solidFill>
                  <a:srgbClr val="BAD7FF"/>
                </a:solidFill>
              </a:defRPr>
            </a:pPr>
            <a:r>
              <a:t>Plateforme Collaborative d'Ingénierie, d'Innovation Technologique et de Gestion des Projets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6217920" cy="2286000"/>
          </a:xfrm>
          <a:prstGeom prst="roundRect">
            <a:avLst/>
          </a:prstGeom>
          <a:solidFill>
            <a:srgbClr val="10203A"/>
          </a:solidFill>
          <a:ln w="19050">
            <a:solidFill>
              <a:srgbClr val="28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400" b="1">
                <a:solidFill>
                  <a:srgbClr val="0DCAF0"/>
                </a:solidFill>
              </a:defRPr>
            </a:pPr>
            <a:r>
              <a:t>Équipe Projet (ECAM-EPMI 1AE) :</a:t>
            </a:r>
          </a:p>
          <a:p>
            <a:pPr>
              <a:spcBef>
                <a:spcPts val="600"/>
              </a:spcBef>
              <a:defRPr b="1" sz="1200">
                <a:solidFill>
                  <a:srgbClr val="FFFFFF"/>
                </a:solidFill>
              </a:defRPr>
            </a:pPr>
            <a:r>
              <a:t>• Étudiant(e) 1 : </a:t>
            </a:r>
            <a:r>
              <a:rPr b="0">
                <a:solidFill>
                  <a:srgbClr val="CBD5E1"/>
                </a:solidFill>
              </a:rPr>
              <a:t>Chef de Projet &amp; Architecture Back-End (PHP 8 / PDO / MySQL)</a:t>
            </a:r>
          </a:p>
          <a:p>
            <a:pPr>
              <a:spcBef>
                <a:spcPts val="600"/>
              </a:spcBef>
              <a:defRPr b="1" sz="1200">
                <a:solidFill>
                  <a:srgbClr val="FFFFFF"/>
                </a:solidFill>
              </a:defRPr>
            </a:pPr>
            <a:r>
              <a:t>• Étudiant(e) 2 : </a:t>
            </a:r>
            <a:r>
              <a:rPr b="0">
                <a:solidFill>
                  <a:srgbClr val="CBD5E1"/>
                </a:solidFill>
              </a:rPr>
              <a:t>Lead UI/UX Designer &amp; Spécialiste CSS3 Responsive &amp; Dark Mode</a:t>
            </a:r>
          </a:p>
          <a:p>
            <a:pPr>
              <a:spcBef>
                <a:spcPts val="600"/>
              </a:spcBef>
              <a:defRPr b="1" sz="1200">
                <a:solidFill>
                  <a:srgbClr val="FFFFFF"/>
                </a:solidFill>
              </a:defRPr>
            </a:pPr>
            <a:r>
              <a:t>• Étudiant(e) 3 : </a:t>
            </a:r>
            <a:r>
              <a:rPr b="0">
                <a:solidFill>
                  <a:srgbClr val="CBD5E1"/>
                </a:solidFill>
              </a:rPr>
              <a:t>Développeur Front-End (JavaScript ES6, jsPDF, Chart.js)</a:t>
            </a:r>
          </a:p>
        </p:txBody>
      </p:sp>
      <p:pic>
        <p:nvPicPr>
          <p:cNvPr id="6" name="Picture 5" descr="01_hero_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63040"/>
            <a:ext cx="402336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CAF0"/>
                </a:solidFill>
              </a:defRPr>
            </a:pPr>
            <a:r>
              <a:t>SPÉCIFICATIONS FONCTIONNELLES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Contexte, Enjeux &amp; Cahier des Charges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286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ECAM-EPMI • 1AE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657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6EFD"/>
                </a:solidFill>
              </a:defRPr>
            </a:pPr>
            <a:r>
              <a:t>🎯 Contexte &amp; Objectifs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Portail unifié pour valoriser les innovations étudiantes de l'ECAM-EPMI (Énergies renouvelables, IA, Robotique, Smart Cities, Industrie 4.0).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Remplacement des formulaires statiques par un flux interactif et réactif.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Génération automatique et instantanée de fiches projets officielles PDF.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Administration centralisée avec tableau de bord CRUD et export des données (CSV / PDF).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280160"/>
            <a:ext cx="67665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46320" y="1444752"/>
            <a:ext cx="1005840" cy="292608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Étape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3716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Structure &amp; Mise en Forme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HTML5 sémantique multi-pages, variables CSS3, Glassmorphism, Dark Mode &amp; Responsive.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304288"/>
            <a:ext cx="67665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46320" y="2468880"/>
            <a:ext cx="1005840" cy="292608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Étape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39572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Formulaire Intelligent &amp; jsPDF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Strictement aucun formulaire dans un tableau HTML, récapitulatif direct en temps réel et fiche PDF A4.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328416"/>
            <a:ext cx="67665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6320" y="3493008"/>
            <a:ext cx="1005840" cy="292608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Étape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419856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Interactivité JavaScript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Dark Mode persistant (localStorage), alertes Toast dynamiques, filtres catalogue et accordéon FAQ.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352544"/>
            <a:ext cx="67665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46320" y="4517136"/>
            <a:ext cx="1005840" cy="292608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Étape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443984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MySQL &amp; Affichage Tabulaire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Base de données relationnelle PDO, script database.sql fourni et affichage en tableau HTML.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5376672"/>
            <a:ext cx="67665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46320" y="5541264"/>
            <a:ext cx="100584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Étape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5468112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Bonus CRUD, Exports &amp; Sécurité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CRUD complet (Create, Read, Update, Delete), export CSV Excel UTF-8, export PDF et sécurité CSRF / XSS.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CAF0"/>
                </a:solidFill>
              </a:defRPr>
            </a:pPr>
            <a:r>
              <a:t>ÉTAPE 1 &amp; 3 DU CAHIER DES CHARGES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Interface Visuelle, Métriques &amp; Responsive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286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ECAM-EPMI • 1AE 2026</a:t>
            </a:r>
          </a:p>
        </p:txBody>
      </p:sp>
      <p:pic>
        <p:nvPicPr>
          <p:cNvPr id="7" name="Picture 6" descr="01_hero_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217920" cy="3886200"/>
          </a:xfrm>
          <a:prstGeom prst="rect">
            <a:avLst/>
          </a:prstGeom>
        </p:spPr>
      </p:pic>
      <p:pic>
        <p:nvPicPr>
          <p:cNvPr id="8" name="Picture 7" descr="05_dark_m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280160"/>
            <a:ext cx="4206240" cy="26289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3931920"/>
            <a:ext cx="42062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400" b="1">
                <a:solidFill>
                  <a:srgbClr val="0D6EFD"/>
                </a:solidFill>
              </a:defRPr>
            </a:pPr>
            <a:r>
              <a:t>✨ Points Forts Ergonomie &amp; UX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✔ Design System CSS3 moderne avec custom properties.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✔ Sélecteur Dark / Light Mode avec mémoire de préférence.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✔ Compteurs et métriques statistiques du Lab en direct.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✔ Navigation adaptative avec tiroir mobile tactile (Offcanvas).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CAF0"/>
                </a:solidFill>
              </a:defRPr>
            </a:pPr>
            <a:r>
              <a:t>ÉTAPE 2 : PAS DE FORMULAIRE DANS UN TABLEAU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Formulaire de Dépôt Intelligent &amp; Live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286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ECAM-EPMI • 1AE 2026</a:t>
            </a:r>
          </a:p>
        </p:txBody>
      </p:sp>
      <p:pic>
        <p:nvPicPr>
          <p:cNvPr id="7" name="Picture 6" descr="02_formulaire_et_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280160"/>
            <a:ext cx="38404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600" b="1">
                <a:solidFill>
                  <a:srgbClr val="0D6EFD"/>
                </a:solidFill>
              </a:defRPr>
            </a:pPr>
            <a:r>
              <a:t>📝 Spécifications Formulaire</a:t>
            </a:r>
          </a:p>
          <a:p>
            <a:pPr>
              <a:spcBef>
                <a:spcPts val="800"/>
              </a:spcBef>
              <a:defRPr b="1" sz="1100">
                <a:solidFill>
                  <a:srgbClr val="0A2540"/>
                </a:solidFill>
              </a:defRPr>
            </a:pPr>
            <a:r>
              <a:t>• Zéro Tableau HTML : </a:t>
            </a:r>
            <a:r>
              <a:rPr b="0">
                <a:solidFill>
                  <a:srgbClr val="1E293B"/>
                </a:solidFill>
              </a:rPr>
              <a:t>Structure 100% Flexbox &amp; CSS Grid conforme aux consignes.</a:t>
            </a:r>
          </a:p>
          <a:p>
            <a:pPr>
              <a:spcBef>
                <a:spcPts val="800"/>
              </a:spcBef>
              <a:defRPr b="1" sz="1100">
                <a:solidFill>
                  <a:srgbClr val="0A2540"/>
                </a:solidFill>
              </a:defRPr>
            </a:pPr>
            <a:r>
              <a:t>• Composants Riches : </a:t>
            </a:r>
            <a:r>
              <a:rPr b="0">
                <a:solidFill>
                  <a:srgbClr val="1E293B"/>
                </a:solidFill>
              </a:rPr>
              <a:t>Radios cartes stylisées, checkboxes domaines clés, sélecteurs de filière, budgets et dates.</a:t>
            </a:r>
          </a:p>
          <a:p>
            <a:pPr>
              <a:spcBef>
                <a:spcPts val="800"/>
              </a:spcBef>
              <a:defRPr b="1" sz="1100">
                <a:solidFill>
                  <a:srgbClr val="0A2540"/>
                </a:solidFill>
              </a:defRPr>
            </a:pPr>
            <a:r>
              <a:t>• Live Summary Direct : </a:t>
            </a:r>
            <a:r>
              <a:rPr b="0">
                <a:solidFill>
                  <a:srgbClr val="1E293B"/>
                </a:solidFill>
              </a:rPr>
              <a:t>Mise à jour en temps réel des informations saisies dans la carte latérale.</a:t>
            </a:r>
          </a:p>
          <a:p>
            <a:pPr>
              <a:spcBef>
                <a:spcPts val="800"/>
              </a:spcBef>
              <a:defRPr b="1" sz="1100">
                <a:solidFill>
                  <a:srgbClr val="0A2540"/>
                </a:solidFill>
              </a:defRPr>
            </a:pPr>
            <a:r>
              <a:t>• Jauge de Progression : </a:t>
            </a:r>
            <a:r>
              <a:rPr b="0">
                <a:solidFill>
                  <a:srgbClr val="1E293B"/>
                </a:solidFill>
              </a:rPr>
              <a:t>Calcul dynamique du taux de complétion des champs obligatoires.</a:t>
            </a:r>
          </a:p>
          <a:p>
            <a:pPr>
              <a:spcBef>
                <a:spcPts val="800"/>
              </a:spcBef>
              <a:defRPr b="1" sz="1100">
                <a:solidFill>
                  <a:srgbClr val="0A2540"/>
                </a:solidFill>
              </a:defRPr>
            </a:pPr>
            <a:r>
              <a:t>• Module jsPDF Intégré : </a:t>
            </a:r>
            <a:r>
              <a:rPr b="0">
                <a:solidFill>
                  <a:srgbClr val="1E293B"/>
                </a:solidFill>
              </a:rPr>
              <a:t>Génération instantanée d'une fiche projet officielle téléchargeable en 1 clic.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CAF0"/>
                </a:solidFill>
              </a:defRPr>
            </a:pPr>
            <a:r>
              <a:t>VALIDATION &amp; EXPORT VECTORIEL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Prévisualisation Modale &amp; Fiche Technique 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286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ECAM-EPMI • 1AE 2026</a:t>
            </a:r>
          </a:p>
        </p:txBody>
      </p:sp>
      <p:pic>
        <p:nvPicPr>
          <p:cNvPr id="7" name="Picture 6" descr="04_modal_recapitula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280160"/>
            <a:ext cx="38404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600" b="1">
                <a:solidFill>
                  <a:srgbClr val="0D6EFD"/>
                </a:solidFill>
              </a:defRPr>
            </a:pPr>
            <a:r>
              <a:t>🔍 Double Validation &amp; jsPDF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✔ Fenêtre modale récapitulative permettant à l'étudiant de relire l'ensemble de ses choix.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✔ Génération du document PDF officiel (format A4) directement dans le navigateur client sans requête serveur lourde.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✔ Mise en page vectorielle intégrant la référence du projet, les coordonnées, les budgets et l'espace signature.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✔ Gestion des messages de confirmation via Toasts interactifs non bloquants.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CAF0"/>
                </a:solidFill>
              </a:defRPr>
            </a:pPr>
            <a:r>
              <a:t>ÉTAPE 4 &amp; 5 (BONUS) : MYSQL, PDO &amp; EXPORTS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Tableau de Bord Administrateur &amp; CRUD Complet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286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ECAM-EPMI • 1AE 2026</a:t>
            </a:r>
          </a:p>
        </p:txBody>
      </p:sp>
      <p:pic>
        <p:nvPicPr>
          <p:cNvPr id="7" name="Picture 6" descr="03_dashboard_cr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280160"/>
            <a:ext cx="38404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600" b="1">
                <a:solidFill>
                  <a:srgbClr val="0D6EFD"/>
                </a:solidFill>
              </a:defRPr>
            </a:pPr>
            <a:r>
              <a:t>⚙️ Fonctionnalités CRUD &amp; Exports</a:t>
            </a:r>
          </a:p>
          <a:p>
            <a:pPr>
              <a:spcBef>
                <a:spcPts val="600"/>
              </a:spcBef>
              <a:defRPr b="1" sz="1100">
                <a:solidFill>
                  <a:srgbClr val="0A2540"/>
                </a:solidFill>
              </a:defRPr>
            </a:pPr>
            <a:r>
              <a:t>• Create : </a:t>
            </a:r>
            <a:r>
              <a:rPr b="0">
                <a:solidFill>
                  <a:srgbClr val="1E293B"/>
                </a:solidFill>
              </a:rPr>
              <a:t>Enregistrement sécurisé avec requête préparée PDO.</a:t>
            </a:r>
          </a:p>
          <a:p>
            <a:pPr>
              <a:spcBef>
                <a:spcPts val="600"/>
              </a:spcBef>
              <a:defRPr b="1" sz="1100">
                <a:solidFill>
                  <a:srgbClr val="0A2540"/>
                </a:solidFill>
              </a:defRPr>
            </a:pPr>
            <a:r>
              <a:t>• Read : </a:t>
            </a:r>
            <a:r>
              <a:rPr b="0">
                <a:solidFill>
                  <a:srgbClr val="1E293B"/>
                </a:solidFill>
              </a:rPr>
              <a:t>Tableau HTML avec badges colorés selon statut.</a:t>
            </a:r>
          </a:p>
          <a:p>
            <a:pPr>
              <a:spcBef>
                <a:spcPts val="600"/>
              </a:spcBef>
              <a:defRPr b="1" sz="1100">
                <a:solidFill>
                  <a:srgbClr val="0A2540"/>
                </a:solidFill>
              </a:defRPr>
            </a:pPr>
            <a:r>
              <a:t>• Update : </a:t>
            </a:r>
            <a:r>
              <a:rPr b="0">
                <a:solidFill>
                  <a:srgbClr val="1E293B"/>
                </a:solidFill>
              </a:rPr>
              <a:t>Modification en modale avec réinjection des données.</a:t>
            </a:r>
          </a:p>
          <a:p>
            <a:pPr>
              <a:spcBef>
                <a:spcPts val="600"/>
              </a:spcBef>
              <a:defRPr b="1" sz="1100">
                <a:solidFill>
                  <a:srgbClr val="0A2540"/>
                </a:solidFill>
              </a:defRPr>
            </a:pPr>
            <a:r>
              <a:t>• Delete : </a:t>
            </a:r>
            <a:r>
              <a:rPr b="0">
                <a:solidFill>
                  <a:srgbClr val="1E293B"/>
                </a:solidFill>
              </a:rPr>
              <a:t>Suppression contrôlée avec token CSRF.</a:t>
            </a:r>
          </a:p>
          <a:p>
            <a:pPr>
              <a:spcBef>
                <a:spcPts val="600"/>
              </a:spcBef>
              <a:defRPr b="1" sz="1100">
                <a:solidFill>
                  <a:srgbClr val="0A2540"/>
                </a:solidFill>
              </a:defRPr>
            </a:pPr>
            <a:r>
              <a:t>• Filtres &amp; Recherche : </a:t>
            </a:r>
            <a:r>
              <a:rPr b="0">
                <a:solidFill>
                  <a:srgbClr val="1E293B"/>
                </a:solidFill>
              </a:rPr>
              <a:t>Recherche textuelle temps réel instantanée.</a:t>
            </a:r>
          </a:p>
          <a:p>
            <a:pPr>
              <a:spcBef>
                <a:spcPts val="600"/>
              </a:spcBef>
              <a:defRPr b="1" sz="1100">
                <a:solidFill>
                  <a:srgbClr val="0A2540"/>
                </a:solidFill>
              </a:defRPr>
            </a:pPr>
            <a:r>
              <a:t>• Export CSV : </a:t>
            </a:r>
            <a:r>
              <a:rPr b="0">
                <a:solidFill>
                  <a:srgbClr val="1E293B"/>
                </a:solidFill>
              </a:rPr>
              <a:t>Génération CSV conforme Excel encodé en UTF-8.</a:t>
            </a:r>
          </a:p>
          <a:p>
            <a:pPr>
              <a:spcBef>
                <a:spcPts val="600"/>
              </a:spcBef>
              <a:defRPr b="1" sz="1100">
                <a:solidFill>
                  <a:srgbClr val="0A2540"/>
                </a:solidFill>
              </a:defRPr>
            </a:pPr>
            <a:r>
              <a:t>• Export PDF : </a:t>
            </a:r>
            <a:r>
              <a:rPr b="0">
                <a:solidFill>
                  <a:srgbClr val="1E293B"/>
                </a:solidFill>
              </a:rPr>
              <a:t>Export tabulaire récapitulatif pour impression.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CAF0"/>
                </a:solidFill>
              </a:defRPr>
            </a:pPr>
            <a:r>
              <a:t>CONCEPTION LOGICIELLE &amp; ROBUSTESSE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Architecture Technique &amp; Sécurité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286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ECAM-EPMI • 1AE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383280" cy="64008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Front-End Moderne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✔  HTML5 Sémantique multi-pages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✔  CSS3 &amp; Responsive Design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✔  JavaScript ES6 modulaire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✔  Bootstrap 5.3 &amp; Icons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✔  Bibliothèque jsPDF &amp; Chart.js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383280" cy="64008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Back-End &amp; BDD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✔  PHP 8 avec architecture modulaire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✔  Connexion PDO MySQL sécurisée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✔  Script database.sql prêt à l'emploi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✔  Séparation includes/ et actions/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✔  Fallback automatique sans crash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338328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Sécurité &amp; Conformité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✔  Requêtes préparées anti-injections SQL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✔  Jetons CSRF vérifiés (hash_equals)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✔  Assainissement XSS (htmlspecialchars)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✔  Validation regex des emails &amp; téléphones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✔  Session sécurisée (cookie_httponly)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CAF0"/>
                </a:solidFill>
              </a:defRPr>
            </a:pPr>
            <a:r>
              <a:t>CONCLUSION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Bilan Pédagogique, Synthèse &amp;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286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ECAM-EPMI • 1AE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68580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6EFD"/>
                </a:solidFill>
              </a:defRPr>
            </a:pPr>
            <a:r>
              <a:t>🏆 100% de Réussite au Cahier des Charges</a:t>
            </a:r>
          </a:p>
          <a:p>
            <a:pPr>
              <a:spcBef>
                <a:spcPts val="800"/>
              </a:spcBef>
              <a:defRPr b="1" sz="1200">
                <a:solidFill>
                  <a:srgbClr val="10B981"/>
                </a:solidFill>
              </a:defRPr>
            </a:pPr>
            <a:r>
              <a:t>✔ Étape 1 : Structure &amp; CSS3 : </a:t>
            </a:r>
            <a:r>
              <a:rPr b="0">
                <a:solidFill>
                  <a:srgbClr val="1E293B"/>
                </a:solidFill>
              </a:rPr>
              <a:t>Multi-pages connectées, Dark Mode &amp; Responsive 100%</a:t>
            </a:r>
          </a:p>
          <a:p>
            <a:pPr>
              <a:spcBef>
                <a:spcPts val="800"/>
              </a:spcBef>
              <a:defRPr b="1" sz="1200">
                <a:solidFill>
                  <a:srgbClr val="10B981"/>
                </a:solidFill>
              </a:defRPr>
            </a:pPr>
            <a:r>
              <a:t>✔ Étape 2 : Formulaire Intelligent : </a:t>
            </a:r>
            <a:r>
              <a:rPr b="0">
                <a:solidFill>
                  <a:srgbClr val="1E293B"/>
                </a:solidFill>
              </a:rPr>
              <a:t>Zéro tableau HTML, Live Summary JS &amp; Fiche PDF</a:t>
            </a:r>
          </a:p>
          <a:p>
            <a:pPr>
              <a:spcBef>
                <a:spcPts val="800"/>
              </a:spcBef>
              <a:defRPr b="1" sz="1200">
                <a:solidFill>
                  <a:srgbClr val="10B981"/>
                </a:solidFill>
              </a:defRPr>
            </a:pPr>
            <a:r>
              <a:t>✔ Étape 3 : Interactivité JS : </a:t>
            </a:r>
            <a:r>
              <a:rPr b="0">
                <a:solidFill>
                  <a:srgbClr val="1E293B"/>
                </a:solidFill>
              </a:rPr>
              <a:t>Toasts dynamiques, validation live &amp; filtres</a:t>
            </a:r>
          </a:p>
          <a:p>
            <a:pPr>
              <a:spcBef>
                <a:spcPts val="800"/>
              </a:spcBef>
              <a:defRPr b="1" sz="1200">
                <a:solidFill>
                  <a:srgbClr val="10B981"/>
                </a:solidFill>
              </a:defRPr>
            </a:pPr>
            <a:r>
              <a:t>✔ Étape 4 : MySQL &amp; Table HTML : </a:t>
            </a:r>
            <a:r>
              <a:rPr b="0">
                <a:solidFill>
                  <a:srgbClr val="1E293B"/>
                </a:solidFill>
              </a:rPr>
              <a:t>Base relationnelle PDO, script SQL et affichage</a:t>
            </a:r>
          </a:p>
          <a:p>
            <a:pPr>
              <a:spcBef>
                <a:spcPts val="800"/>
              </a:spcBef>
              <a:defRPr b="1" sz="1200">
                <a:solidFill>
                  <a:srgbClr val="10B981"/>
                </a:solidFill>
              </a:defRPr>
            </a:pPr>
            <a:r>
              <a:t>✔ Étape 5 : Bonus CRUD &amp; Sécurité : </a:t>
            </a:r>
            <a:r>
              <a:rPr b="0">
                <a:solidFill>
                  <a:srgbClr val="1E293B"/>
                </a:solidFill>
              </a:rPr>
              <a:t>CRUD complet, exports CSV/PDF, CSRF &amp; XSS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280160"/>
            <a:ext cx="35661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463040"/>
            <a:ext cx="3200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🚀 Perspectives Futures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Authentification SSO avec comptes étudiants ECAM-EPMI (OAuth2).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Téléversement de pièces jointes (fichiers CAO 3D, codes sources Arduino / C++).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Module de réservation en ligne des bancs d'essai des laboratoires.</a:t>
            </a:r>
          </a:p>
          <a:p>
            <a:pPr>
              <a:spcBef>
                <a:spcPts val="1000"/>
              </a:spcBef>
              <a:defRPr sz="1150">
                <a:solidFill>
                  <a:srgbClr val="1E293B"/>
                </a:solidFill>
              </a:defRPr>
            </a:pPr>
            <a:r>
              <a:t>• Notifications par email automatiques lors de la validation d'un projet.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